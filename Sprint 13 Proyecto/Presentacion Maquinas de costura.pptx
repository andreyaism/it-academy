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0503ab17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0503ab17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0af9caba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0af9caba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0af9caba3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0af9caba3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0af9caba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0af9caba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0af9caba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0af9caba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0af9caba3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0af9caba3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0af9caba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0af9caba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0af9caba3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0af9caba3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0af9caba3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0af9caba3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0af9caba3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0af9caba3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0af9caba3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0af9caba3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0af9caba3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0af9caba3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0af9caba3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0af9caba3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0af9caba3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0af9caba3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0af9caba3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0af9caba3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0af9caba3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0af9caba3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0af9caba3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0af9caba3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0af9caba3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0af9caba3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0af9caba3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0af9caba3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0af9caba3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0af9caba3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0af9caba3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0af9caba3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0af9caba3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0af9caba3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0af9caba3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0af9caba3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0af9caba3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d0af9caba3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0af9caba3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d0af9caba3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0af9caba3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d0af9caba3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0af9caba3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d0af9caba3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0af9caba3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d0af9caba3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0fa05b8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d0fa05b8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0fa05b83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d0fa05b83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0af9caba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0af9caba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0fa05b83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d0fa05b83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0fa05b83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d0fa05b83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0fa05b83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d0fa05b83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0af9caba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d0af9caba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0af9caba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d0af9caba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0af9caba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d0af9caba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0af9caba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d0af9caba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0af9caba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d0af9caba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Relationship Id="rId4" Type="http://schemas.openxmlformats.org/officeDocument/2006/relationships/hyperlink" Target="https://github.com/Andreyaism/IT-Academy/blob/main/Sprint%2013%20Proyecto/scatter_modelos_outliers.html" TargetMode="External"/><Relationship Id="rId5" Type="http://schemas.openxmlformats.org/officeDocument/2006/relationships/hyperlink" Target="https://github.com/Andreyaism/IT-Academy/blob/main/Sprint%2013%20Proyecto/scatter_modelos_outliers.html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Relationship Id="rId4" Type="http://schemas.openxmlformats.org/officeDocument/2006/relationships/hyperlink" Target="https://github.com/Andreyaism/IT-Academy/blob/main/Sprint%2013%20Proyecto/matriz_de_desempe%C3%B1o.html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rgbClr val="1C4587"/>
                </a:solidFill>
              </a:rPr>
              <a:t>Análisis de fallas en máquinas de costura para optimizar el mantenimiento industrial</a:t>
            </a:r>
            <a:endParaRPr sz="3700">
              <a:solidFill>
                <a:srgbClr val="1C4587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Exploración de datos, detección de anomalías y análisis de confiabilidad mediante MTBF/MTTR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440625" y="4113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Andrey Ismagilov</a:t>
            </a:r>
            <a:endParaRPr sz="1800"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1735" y="4672025"/>
            <a:ext cx="1479490" cy="32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C4587"/>
                </a:solidFill>
              </a:rPr>
              <a:t>Contexto y problema</a:t>
            </a:r>
            <a:endParaRPr b="1">
              <a:solidFill>
                <a:srgbClr val="1C4587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6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97">
                <a:solidFill>
                  <a:schemeClr val="dk1"/>
                </a:solidFill>
              </a:rPr>
              <a:t>CONTEXTO</a:t>
            </a:r>
            <a:endParaRPr b="1" sz="329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297"/>
              <a:t>• Industria textil altamente dependiente de continuidad</a:t>
            </a:r>
            <a:endParaRPr sz="329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297"/>
              <a:t>• +37M docenas exportadas/año</a:t>
            </a:r>
            <a:endParaRPr sz="329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297"/>
              <a:t>• Necesidad de optimizar mantenimiento  </a:t>
            </a:r>
            <a:endParaRPr sz="329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3297">
                <a:solidFill>
                  <a:srgbClr val="000000"/>
                </a:solidFill>
              </a:rPr>
              <a:t>PROBLEMAS</a:t>
            </a:r>
            <a:endParaRPr b="1" sz="3297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297"/>
              <a:t>• Fallos en equipos→ paros imprevistos</a:t>
            </a:r>
            <a:endParaRPr sz="329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297"/>
              <a:t>• Impacto en toda la </a:t>
            </a:r>
            <a:r>
              <a:rPr lang="en-GB" sz="3297"/>
              <a:t>línea</a:t>
            </a:r>
            <a:r>
              <a:rPr lang="en-GB" sz="3297"/>
              <a:t> de producción</a:t>
            </a:r>
            <a:endParaRPr sz="329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297"/>
              <a:t>• Pérdidas económicas y retrasos</a:t>
            </a:r>
            <a:endParaRPr sz="329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C4587"/>
                </a:solidFill>
              </a:rPr>
              <a:t>Objetivos</a:t>
            </a:r>
            <a:endParaRPr b="1">
              <a:solidFill>
                <a:srgbClr val="1C4587"/>
              </a:solidFill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Identificar causas de fallos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Reducir tiempo de paro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• Optimizar mantenimiento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rgbClr val="1C4587"/>
                </a:solidFill>
              </a:rPr>
              <a:t>Fuentes de datos</a:t>
            </a:r>
            <a:endParaRPr sz="4200">
              <a:solidFill>
                <a:srgbClr val="1C4587"/>
              </a:solidFill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Sistema EAM:</a:t>
            </a:r>
            <a:r>
              <a:rPr lang="en-GB">
                <a:solidFill>
                  <a:schemeClr val="dk1"/>
                </a:solidFill>
              </a:rPr>
              <a:t> fallos de máquinas y órdenes de trabajo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Recursos Humanos:</a:t>
            </a:r>
            <a:r>
              <a:rPr lang="en-GB">
                <a:solidFill>
                  <a:schemeClr val="dk1"/>
                </a:solidFill>
              </a:rPr>
              <a:t> antigüedad de los mecánicos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Registro de equipos:</a:t>
            </a:r>
            <a:r>
              <a:rPr lang="en-GB">
                <a:solidFill>
                  <a:schemeClr val="dk1"/>
                </a:solidFill>
              </a:rPr>
              <a:t> edad de las máquinas de costura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116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rgbClr val="1C4587"/>
                </a:solidFill>
              </a:rPr>
              <a:t>Descripción del dataset</a:t>
            </a:r>
            <a:endParaRPr b="1" sz="3500">
              <a:solidFill>
                <a:srgbClr val="1C4587"/>
              </a:solidFill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688925"/>
            <a:ext cx="8638800" cy="42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Unidad de análisis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666666"/>
                </a:solidFill>
              </a:rPr>
              <a:t>• </a:t>
            </a:r>
            <a:r>
              <a:rPr lang="en-GB">
                <a:solidFill>
                  <a:srgbClr val="666666"/>
                </a:solidFill>
              </a:rPr>
              <a:t>1 registro = 1 fallo de máquina  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Variables principales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Identificación: equipment, base_model ( categóricas 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Fallos: problem_desc, failure_desc </a:t>
            </a:r>
            <a:r>
              <a:rPr lang="en-GB"/>
              <a:t>( categóricas 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Mantenimiento: repair_hours, waiting_hours(numéricas), </a:t>
            </a:r>
            <a:r>
              <a:rPr lang="en-GB"/>
              <a:t>wo_type,</a:t>
            </a:r>
            <a:r>
              <a:rPr lang="en-GB"/>
              <a:t> mechanic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Costes: parts_cost </a:t>
            </a:r>
            <a:r>
              <a:rPr lang="en-GB"/>
              <a:t>(numérica)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• Tiempo / Impacto: date, </a:t>
            </a:r>
            <a:r>
              <a:rPr lang="en-GB"/>
              <a:t> downtime_gross (numérica – tiempo total de parada)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</a:rPr>
              <a:t>Volumen de datos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~150.000 registros | 21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C4587"/>
                </a:solidFill>
              </a:rPr>
              <a:t>Metodología</a:t>
            </a:r>
            <a:endParaRPr b="1">
              <a:solidFill>
                <a:srgbClr val="1C4587"/>
              </a:solidFill>
            </a:endParaRP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4856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437">
                <a:solidFill>
                  <a:schemeClr val="dk1"/>
                </a:solidFill>
              </a:rPr>
              <a:t>Integración de datos:</a:t>
            </a:r>
            <a:r>
              <a:rPr b="1" lang="en-GB" sz="2437">
                <a:solidFill>
                  <a:schemeClr val="dk1"/>
                </a:solidFill>
              </a:rPr>
              <a:t> </a:t>
            </a:r>
            <a:r>
              <a:rPr lang="en-GB" sz="2437">
                <a:solidFill>
                  <a:schemeClr val="dk1"/>
                </a:solidFill>
              </a:rPr>
              <a:t>EAM, RR. HH. y antigüedad de máquinas</a:t>
            </a:r>
            <a:br>
              <a:rPr lang="en-GB" sz="2437">
                <a:solidFill>
                  <a:schemeClr val="dk1"/>
                </a:solidFill>
              </a:rPr>
            </a:br>
            <a:endParaRPr sz="2437">
              <a:solidFill>
                <a:schemeClr val="dk1"/>
              </a:solidFill>
            </a:endParaRPr>
          </a:p>
          <a:p>
            <a:pPr indent="-34856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437">
                <a:solidFill>
                  <a:schemeClr val="dk1"/>
                </a:solidFill>
              </a:rPr>
              <a:t>Exploración y análisis de datos (EDA)</a:t>
            </a:r>
            <a:br>
              <a:rPr lang="en-GB" sz="2437">
                <a:solidFill>
                  <a:schemeClr val="dk1"/>
                </a:solidFill>
              </a:rPr>
            </a:br>
            <a:endParaRPr sz="2437">
              <a:solidFill>
                <a:schemeClr val="dk1"/>
              </a:solidFill>
            </a:endParaRPr>
          </a:p>
          <a:p>
            <a:pPr indent="-34856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437">
                <a:solidFill>
                  <a:schemeClr val="dk1"/>
                </a:solidFill>
              </a:rPr>
              <a:t>Análisis de Pareto de fallos</a:t>
            </a:r>
            <a:br>
              <a:rPr lang="en-GB" sz="2437">
                <a:solidFill>
                  <a:schemeClr val="dk1"/>
                </a:solidFill>
              </a:rPr>
            </a:br>
            <a:endParaRPr sz="2437">
              <a:solidFill>
                <a:schemeClr val="dk1"/>
              </a:solidFill>
            </a:endParaRPr>
          </a:p>
          <a:p>
            <a:pPr indent="-34856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437">
                <a:solidFill>
                  <a:schemeClr val="dk1"/>
                </a:solidFill>
              </a:rPr>
              <a:t>Cálculo de MTBF y MTTR</a:t>
            </a:r>
            <a:br>
              <a:rPr lang="en-GB" sz="2437">
                <a:solidFill>
                  <a:schemeClr val="dk1"/>
                </a:solidFill>
              </a:rPr>
            </a:br>
            <a:endParaRPr sz="2437">
              <a:solidFill>
                <a:schemeClr val="dk1"/>
              </a:solidFill>
            </a:endParaRPr>
          </a:p>
          <a:p>
            <a:pPr indent="-34856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2437">
                <a:solidFill>
                  <a:schemeClr val="dk1"/>
                </a:solidFill>
              </a:rPr>
              <a:t>Detección de anomalías</a:t>
            </a:r>
            <a:endParaRPr i="1" sz="243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C4587"/>
                </a:solidFill>
              </a:rPr>
              <a:t>Herramientas utilizadas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8339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38"/>
              <a:buChar char="●"/>
            </a:pPr>
            <a:r>
              <a:rPr lang="en-GB" sz="2437">
                <a:solidFill>
                  <a:schemeClr val="dk1"/>
                </a:solidFill>
              </a:rPr>
              <a:t>Python</a:t>
            </a:r>
            <a:br>
              <a:rPr lang="en-GB" sz="2437">
                <a:solidFill>
                  <a:schemeClr val="dk1"/>
                </a:solidFill>
              </a:rPr>
            </a:br>
            <a:endParaRPr sz="2437">
              <a:solidFill>
                <a:schemeClr val="dk1"/>
              </a:solidFill>
            </a:endParaRPr>
          </a:p>
          <a:p>
            <a:pPr indent="-38339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38"/>
              <a:buChar char="●"/>
            </a:pPr>
            <a:r>
              <a:rPr lang="en-GB" sz="2437">
                <a:solidFill>
                  <a:schemeClr val="dk1"/>
                </a:solidFill>
              </a:rPr>
              <a:t>Pandas para manipulación de datos</a:t>
            </a:r>
            <a:br>
              <a:rPr lang="en-GB" sz="2437">
                <a:solidFill>
                  <a:schemeClr val="dk1"/>
                </a:solidFill>
              </a:rPr>
            </a:br>
            <a:endParaRPr sz="2437">
              <a:solidFill>
                <a:schemeClr val="dk1"/>
              </a:solidFill>
            </a:endParaRPr>
          </a:p>
          <a:p>
            <a:pPr indent="-38339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38"/>
              <a:buChar char="●"/>
            </a:pPr>
            <a:r>
              <a:rPr lang="en-GB" sz="2437">
                <a:solidFill>
                  <a:schemeClr val="dk1"/>
                </a:solidFill>
              </a:rPr>
              <a:t>Scikit-learn para imputación con KNNImputer</a:t>
            </a:r>
            <a:br>
              <a:rPr lang="en-GB" sz="2437">
                <a:solidFill>
                  <a:schemeClr val="dk1"/>
                </a:solidFill>
              </a:rPr>
            </a:br>
            <a:endParaRPr sz="2437">
              <a:solidFill>
                <a:schemeClr val="dk1"/>
              </a:solidFill>
            </a:endParaRPr>
          </a:p>
          <a:p>
            <a:pPr indent="-38339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38"/>
              <a:buChar char="●"/>
            </a:pPr>
            <a:r>
              <a:rPr lang="en-GB" sz="2437">
                <a:solidFill>
                  <a:schemeClr val="dk1"/>
                </a:solidFill>
              </a:rPr>
              <a:t>Matplotlib, Seaborn y Plotly Express para visualización</a:t>
            </a:r>
            <a:endParaRPr sz="2437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37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69225"/>
            <a:ext cx="8520600" cy="4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C4587"/>
                </a:solidFill>
              </a:rPr>
              <a:t> </a:t>
            </a:r>
            <a:r>
              <a:rPr b="1" lang="en-GB" sz="2244">
                <a:solidFill>
                  <a:srgbClr val="1C4587"/>
                </a:solidFill>
              </a:rPr>
              <a:t>Análisis exploratorio</a:t>
            </a:r>
            <a:endParaRPr b="1" sz="2244">
              <a:solidFill>
                <a:srgbClr val="1C4587"/>
              </a:solidFill>
            </a:endParaRPr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0825"/>
            <a:ext cx="8591215" cy="427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/>
        </p:nvSpPr>
        <p:spPr>
          <a:xfrm>
            <a:off x="7117800" y="321525"/>
            <a:ext cx="17145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Total modelos: 119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221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solidFill>
                  <a:srgbClr val="1C4587"/>
                </a:solidFill>
              </a:rPr>
              <a:t> </a:t>
            </a:r>
            <a:r>
              <a:rPr b="1" lang="en-GB" sz="2244">
                <a:solidFill>
                  <a:srgbClr val="1C4587"/>
                </a:solidFill>
              </a:rPr>
              <a:t>Análisis exploratorio</a:t>
            </a:r>
            <a:endParaRPr/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050" y="958750"/>
            <a:ext cx="772790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257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solidFill>
                  <a:srgbClr val="1C4587"/>
                </a:solidFill>
              </a:rPr>
              <a:t> </a:t>
            </a:r>
            <a:r>
              <a:rPr b="1" lang="en-GB" sz="2244">
                <a:solidFill>
                  <a:srgbClr val="1C4587"/>
                </a:solidFill>
              </a:rPr>
              <a:t>Análisis exploratorio</a:t>
            </a:r>
            <a:endParaRPr/>
          </a:p>
        </p:txBody>
      </p:sp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725" y="888550"/>
            <a:ext cx="8078901" cy="400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104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-GB">
                <a:solidFill>
                  <a:srgbClr val="1C4587"/>
                </a:solidFill>
              </a:rPr>
              <a:t> </a:t>
            </a:r>
            <a:r>
              <a:rPr b="1" lang="en-GB" sz="2244">
                <a:solidFill>
                  <a:srgbClr val="1C4587"/>
                </a:solidFill>
              </a:rPr>
              <a:t>Análisis exploratorio</a:t>
            </a:r>
            <a:endParaRPr/>
          </a:p>
        </p:txBody>
      </p:sp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7550" y="806350"/>
            <a:ext cx="7135256" cy="403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244">
                <a:solidFill>
                  <a:srgbClr val="1C4587"/>
                </a:solidFill>
              </a:rPr>
              <a:t>Análisis exploratorio</a:t>
            </a:r>
            <a:endParaRPr/>
          </a:p>
        </p:txBody>
      </p:sp>
      <p:pic>
        <p:nvPicPr>
          <p:cNvPr id="124" name="Google Shape;1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800" y="935250"/>
            <a:ext cx="704852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13" y="45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244">
                <a:solidFill>
                  <a:srgbClr val="1C4587"/>
                </a:solidFill>
              </a:rPr>
              <a:t>Análisis exploratorio</a:t>
            </a:r>
            <a:endParaRPr/>
          </a:p>
        </p:txBody>
      </p:sp>
      <p:pic>
        <p:nvPicPr>
          <p:cNvPr id="130" name="Google Shape;1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2163" y="547750"/>
            <a:ext cx="6719725" cy="451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81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244">
                <a:solidFill>
                  <a:srgbClr val="1C4587"/>
                </a:solidFill>
              </a:rPr>
              <a:t>Análisis exploratorio</a:t>
            </a:r>
            <a:endParaRPr/>
          </a:p>
        </p:txBody>
      </p:sp>
      <p:sp>
        <p:nvSpPr>
          <p:cNvPr id="136" name="Google Shape;136;p26"/>
          <p:cNvSpPr txBox="1"/>
          <p:nvPr/>
        </p:nvSpPr>
        <p:spPr>
          <a:xfrm>
            <a:off x="6717100" y="364050"/>
            <a:ext cx="202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To</a:t>
            </a:r>
            <a:r>
              <a:rPr lang="en-GB">
                <a:solidFill>
                  <a:schemeClr val="dk2"/>
                </a:solidFill>
              </a:rPr>
              <a:t>tal de problemas: 24</a:t>
            </a:r>
            <a:endParaRPr>
              <a:solidFill>
                <a:srgbClr val="666666"/>
              </a:solidFill>
            </a:endParaRPr>
          </a:p>
        </p:txBody>
      </p:sp>
      <p:pic>
        <p:nvPicPr>
          <p:cNvPr id="137" name="Google Shape;1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16650"/>
            <a:ext cx="8624388" cy="407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58675" y="210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44">
                <a:solidFill>
                  <a:srgbClr val="1C4587"/>
                </a:solidFill>
              </a:rPr>
              <a:t>Análisis de Pareto por frecuencia de fallas</a:t>
            </a:r>
            <a:endParaRPr b="1" sz="2244">
              <a:solidFill>
                <a:srgbClr val="1C4587"/>
              </a:solidFill>
            </a:endParaRPr>
          </a:p>
        </p:txBody>
      </p:sp>
      <p:pic>
        <p:nvPicPr>
          <p:cNvPr id="143" name="Google Shape;14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35250"/>
            <a:ext cx="8839200" cy="39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7"/>
          <p:cNvSpPr txBox="1"/>
          <p:nvPr/>
        </p:nvSpPr>
        <p:spPr>
          <a:xfrm>
            <a:off x="58700" y="4650275"/>
            <a:ext cx="570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Top 2  problemas = 94</a:t>
            </a:r>
            <a:r>
              <a:rPr lang="en-GB">
                <a:solidFill>
                  <a:schemeClr val="dk1"/>
                </a:solidFill>
              </a:rPr>
              <a:t>% de las fallas.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22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244">
                <a:solidFill>
                  <a:srgbClr val="1C4587"/>
                </a:solidFill>
              </a:rPr>
              <a:t>Análisis de Pareto por Tiempo de paro</a:t>
            </a:r>
            <a:endParaRPr/>
          </a:p>
        </p:txBody>
      </p:sp>
      <p:pic>
        <p:nvPicPr>
          <p:cNvPr id="150" name="Google Shape;15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08925"/>
            <a:ext cx="8839199" cy="38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8"/>
          <p:cNvSpPr txBox="1"/>
          <p:nvPr/>
        </p:nvSpPr>
        <p:spPr>
          <a:xfrm>
            <a:off x="211375" y="4673775"/>
            <a:ext cx="556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Top 2 </a:t>
            </a:r>
            <a:r>
              <a:rPr lang="en-GB">
                <a:solidFill>
                  <a:schemeClr val="dk1"/>
                </a:solidFill>
              </a:rPr>
              <a:t>problemas = 94% del Tiempo de paro.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311700" y="198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44">
                <a:solidFill>
                  <a:srgbClr val="1C4587"/>
                </a:solidFill>
              </a:rPr>
              <a:t>Análisis</a:t>
            </a:r>
            <a:r>
              <a:rPr lang="en-GB"/>
              <a:t> </a:t>
            </a:r>
            <a:r>
              <a:rPr b="1" lang="en-GB" sz="2244">
                <a:solidFill>
                  <a:srgbClr val="1C4587"/>
                </a:solidFill>
              </a:rPr>
              <a:t>de Pareto por tipo de falla</a:t>
            </a:r>
            <a:endParaRPr/>
          </a:p>
        </p:txBody>
      </p:sp>
      <p:pic>
        <p:nvPicPr>
          <p:cNvPr id="157" name="Google Shape;15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41150"/>
            <a:ext cx="8821726" cy="434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9"/>
          <p:cNvSpPr txBox="1"/>
          <p:nvPr/>
        </p:nvSpPr>
        <p:spPr>
          <a:xfrm>
            <a:off x="6717000" y="198425"/>
            <a:ext cx="242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Total tipos de fallas: 38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163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09"/>
              <a:buFont typeface="Arial"/>
              <a:buNone/>
            </a:pPr>
            <a:r>
              <a:rPr b="1" lang="en-GB" sz="2244">
                <a:solidFill>
                  <a:srgbClr val="1C4587"/>
                </a:solidFill>
              </a:rPr>
              <a:t>Análisis</a:t>
            </a:r>
            <a:r>
              <a:rPr lang="en-GB"/>
              <a:t> </a:t>
            </a:r>
            <a:r>
              <a:rPr b="1" lang="en-GB" sz="2244">
                <a:solidFill>
                  <a:srgbClr val="1C4587"/>
                </a:solidFill>
              </a:rPr>
              <a:t>de Pareto por tipo de fallo</a:t>
            </a:r>
            <a:endParaRPr/>
          </a:p>
        </p:txBody>
      </p:sp>
      <p:pic>
        <p:nvPicPr>
          <p:cNvPr id="164" name="Google Shape;16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49850"/>
            <a:ext cx="8839199" cy="370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0"/>
          <p:cNvSpPr txBox="1"/>
          <p:nvPr/>
        </p:nvSpPr>
        <p:spPr>
          <a:xfrm>
            <a:off x="199625" y="46033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Top 3 fallas = 84% del total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358675" y="15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44">
                <a:solidFill>
                  <a:srgbClr val="1C4587"/>
                </a:solidFill>
              </a:rPr>
              <a:t>Análisis de pareto por Tiempo de paro</a:t>
            </a:r>
            <a:endParaRPr b="1" sz="2244">
              <a:solidFill>
                <a:srgbClr val="1C4587"/>
              </a:solidFill>
            </a:endParaRPr>
          </a:p>
        </p:txBody>
      </p:sp>
      <p:pic>
        <p:nvPicPr>
          <p:cNvPr id="171" name="Google Shape;17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49850"/>
            <a:ext cx="8839199" cy="368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1"/>
          <p:cNvSpPr txBox="1"/>
          <p:nvPr/>
        </p:nvSpPr>
        <p:spPr>
          <a:xfrm>
            <a:off x="223050" y="4637350"/>
            <a:ext cx="36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Top 3 fallas = 82% del Tiempo de paro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382150" y="139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44">
                <a:solidFill>
                  <a:srgbClr val="1C4587"/>
                </a:solidFill>
              </a:rPr>
              <a:t>EDA: evolución mensual de fallas por grupo de problema</a:t>
            </a:r>
            <a:endParaRPr b="1" sz="2244">
              <a:solidFill>
                <a:srgbClr val="1C4587"/>
              </a:solidFill>
            </a:endParaRPr>
          </a:p>
        </p:txBody>
      </p:sp>
      <p:pic>
        <p:nvPicPr>
          <p:cNvPr id="178" name="Google Shape;17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4900" y="771100"/>
            <a:ext cx="6843455" cy="412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382150" y="92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244">
                <a:solidFill>
                  <a:srgbClr val="1C4587"/>
                </a:solidFill>
              </a:rPr>
              <a:t>EDA: evolución mensual de fallas por grupo de problema</a:t>
            </a:r>
            <a:endParaRPr/>
          </a:p>
        </p:txBody>
      </p:sp>
      <p:pic>
        <p:nvPicPr>
          <p:cNvPr id="184" name="Google Shape;1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700" y="732775"/>
            <a:ext cx="7041650" cy="419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title"/>
          </p:nvPr>
        </p:nvSpPr>
        <p:spPr>
          <a:xfrm>
            <a:off x="358675" y="315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44">
                <a:solidFill>
                  <a:srgbClr val="1C4587"/>
                </a:solidFill>
              </a:rPr>
              <a:t>EDA: evolución mensual de los principales grupos de falla</a:t>
            </a:r>
            <a:endParaRPr b="1" sz="2244">
              <a:solidFill>
                <a:srgbClr val="1C4587"/>
              </a:solidFill>
            </a:endParaRPr>
          </a:p>
        </p:txBody>
      </p:sp>
      <p:pic>
        <p:nvPicPr>
          <p:cNvPr id="190" name="Google Shape;19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3325" y="888550"/>
            <a:ext cx="6551312" cy="3950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/>
          <p:nvPr>
            <p:ph type="title"/>
          </p:nvPr>
        </p:nvSpPr>
        <p:spPr>
          <a:xfrm>
            <a:off x="358675" y="280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44">
                <a:solidFill>
                  <a:srgbClr val="1C4587"/>
                </a:solidFill>
              </a:rPr>
              <a:t>EDA: evolución mensual por grupo de fallo (detalle)</a:t>
            </a:r>
            <a:endParaRPr b="1" sz="2244">
              <a:solidFill>
                <a:srgbClr val="1C4587"/>
              </a:solidFill>
            </a:endParaRPr>
          </a:p>
        </p:txBody>
      </p:sp>
      <p:pic>
        <p:nvPicPr>
          <p:cNvPr id="196" name="Google Shape;19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8000" y="853325"/>
            <a:ext cx="6885691" cy="398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"/>
          <p:cNvSpPr txBox="1"/>
          <p:nvPr>
            <p:ph type="title"/>
          </p:nvPr>
        </p:nvSpPr>
        <p:spPr>
          <a:xfrm>
            <a:off x="311700" y="445025"/>
            <a:ext cx="8520600" cy="19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000000"/>
                </a:solidFill>
              </a:rPr>
              <a:t>Antes de calcular los indicadores </a:t>
            </a:r>
            <a:r>
              <a:rPr b="1" lang="en-GB" sz="2000">
                <a:solidFill>
                  <a:srgbClr val="000000"/>
                </a:solidFill>
              </a:rPr>
              <a:t>MTBF </a:t>
            </a:r>
            <a:r>
              <a:rPr lang="en-GB" sz="2000">
                <a:solidFill>
                  <a:srgbClr val="000000"/>
                </a:solidFill>
              </a:rPr>
              <a:t>y </a:t>
            </a:r>
            <a:r>
              <a:rPr b="1" lang="en-GB" sz="2000">
                <a:solidFill>
                  <a:srgbClr val="000000"/>
                </a:solidFill>
              </a:rPr>
              <a:t>MTTR</a:t>
            </a:r>
            <a:r>
              <a:rPr lang="en-GB" sz="2000">
                <a:solidFill>
                  <a:srgbClr val="000000"/>
                </a:solidFill>
              </a:rPr>
              <a:t>, se realizó un </a:t>
            </a:r>
            <a:r>
              <a:rPr b="1" lang="en-GB" sz="2000">
                <a:solidFill>
                  <a:srgbClr val="000000"/>
                </a:solidFill>
              </a:rPr>
              <a:t>análisis de valores atípicos en el tiempo de paro</a:t>
            </a:r>
            <a:r>
              <a:rPr lang="en-GB" sz="2000">
                <a:solidFill>
                  <a:srgbClr val="000000"/>
                </a:solidFill>
              </a:rPr>
              <a:t> para identificar eventos extremos que pudieran afectar la interpretación de los resultados.</a:t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>
            <p:ph type="title"/>
          </p:nvPr>
        </p:nvSpPr>
        <p:spPr>
          <a:xfrm>
            <a:off x="311700" y="198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44">
                <a:solidFill>
                  <a:srgbClr val="1C4587"/>
                </a:solidFill>
              </a:rPr>
              <a:t>Análisis de outliers en tiempo de paro (downtime_gross)</a:t>
            </a:r>
            <a:endParaRPr b="1" sz="2244">
              <a:solidFill>
                <a:srgbClr val="1C4587"/>
              </a:solidFill>
            </a:endParaRPr>
          </a:p>
        </p:txBody>
      </p:sp>
      <p:pic>
        <p:nvPicPr>
          <p:cNvPr id="207" name="Google Shape;20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4600" y="771125"/>
            <a:ext cx="5830190" cy="4067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 txBox="1"/>
          <p:nvPr>
            <p:ph type="title"/>
          </p:nvPr>
        </p:nvSpPr>
        <p:spPr>
          <a:xfrm>
            <a:off x="311700" y="445025"/>
            <a:ext cx="8520600" cy="42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7558"/>
              <a:buFont typeface="Arial"/>
              <a:buNone/>
            </a:pPr>
            <a:r>
              <a:rPr b="1" lang="en-GB" sz="1911"/>
              <a:t>Detección de outliers</a:t>
            </a:r>
            <a:endParaRPr b="1" sz="1911"/>
          </a:p>
          <a:p>
            <a:pPr indent="-32638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sz="1711"/>
              <a:t>Se utilizó el </a:t>
            </a:r>
            <a:r>
              <a:rPr b="1" lang="en-GB" sz="1711"/>
              <a:t>rango intercuartílico (IQR)</a:t>
            </a:r>
            <a:r>
              <a:rPr lang="en-GB" sz="1711"/>
              <a:t> para identificar valores atípicos.</a:t>
            </a:r>
            <a:br>
              <a:rPr lang="en-GB" sz="1711"/>
            </a:br>
            <a:endParaRPr sz="1711"/>
          </a:p>
          <a:p>
            <a:pPr indent="-32638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GB" sz="1711"/>
              <a:t>Q1 = 29 min</a:t>
            </a:r>
            <a:br>
              <a:rPr b="1" lang="en-GB" sz="1711"/>
            </a:br>
            <a:endParaRPr b="1" sz="1711"/>
          </a:p>
          <a:p>
            <a:pPr indent="-32638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GB" sz="1711"/>
              <a:t>Q3 = 115 min</a:t>
            </a:r>
            <a:br>
              <a:rPr b="1" lang="en-GB" sz="1711"/>
            </a:br>
            <a:endParaRPr b="1" sz="1711"/>
          </a:p>
          <a:p>
            <a:pPr indent="-32638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GB" sz="1711"/>
              <a:t>IQR = 86 min</a:t>
            </a:r>
            <a:br>
              <a:rPr b="1" lang="en-GB" sz="1711"/>
            </a:br>
            <a:endParaRPr b="1" sz="1711"/>
          </a:p>
          <a:p>
            <a:pPr indent="-32638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GB" sz="1711"/>
              <a:t>Límite superior = 244 min (4 horas)</a:t>
            </a:r>
            <a:br>
              <a:rPr b="1" lang="en-GB" sz="1711"/>
            </a:br>
            <a:endParaRPr b="1" sz="171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77"/>
              <a:t>Outlier si:</a:t>
            </a:r>
            <a:r>
              <a:rPr b="1" lang="en-GB" sz="1877"/>
              <a:t> downtime_gross &gt; Q3 + 1.5 × IQR</a:t>
            </a:r>
            <a:endParaRPr sz="248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9"/>
          <p:cNvSpPr txBox="1"/>
          <p:nvPr>
            <p:ph type="title"/>
          </p:nvPr>
        </p:nvSpPr>
        <p:spPr>
          <a:xfrm>
            <a:off x="311700" y="210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244">
                <a:solidFill>
                  <a:srgbClr val="1C4587"/>
                </a:solidFill>
              </a:rPr>
              <a:t>Análisis de outliers en Tiempo de paro (downtime_gross)</a:t>
            </a:r>
            <a:endParaRPr/>
          </a:p>
        </p:txBody>
      </p:sp>
      <p:pic>
        <p:nvPicPr>
          <p:cNvPr id="218" name="Google Shape;21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9408" y="782850"/>
            <a:ext cx="5609243" cy="418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0"/>
          <p:cNvSpPr txBox="1"/>
          <p:nvPr>
            <p:ph type="title"/>
          </p:nvPr>
        </p:nvSpPr>
        <p:spPr>
          <a:xfrm>
            <a:off x="311700" y="104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244">
                <a:solidFill>
                  <a:srgbClr val="1C4587"/>
                </a:solidFill>
              </a:rPr>
              <a:t>Análisis de outliers en Tiempo de paro (downtime_gross)</a:t>
            </a:r>
            <a:endParaRPr/>
          </a:p>
        </p:txBody>
      </p:sp>
      <p:pic>
        <p:nvPicPr>
          <p:cNvPr id="224" name="Google Shape;22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8225" y="526937"/>
            <a:ext cx="6787550" cy="418357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0"/>
          <p:cNvSpPr txBox="1"/>
          <p:nvPr/>
        </p:nvSpPr>
        <p:spPr>
          <a:xfrm>
            <a:off x="311700" y="4572775"/>
            <a:ext cx="678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Los outliers no son ruido, son eventos operativos relevantes</a:t>
            </a:r>
            <a:endParaRPr sz="1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1"/>
          <p:cNvSpPr txBox="1"/>
          <p:nvPr>
            <p:ph type="title"/>
          </p:nvPr>
        </p:nvSpPr>
        <p:spPr>
          <a:xfrm>
            <a:off x="358675" y="186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44">
                <a:solidFill>
                  <a:srgbClr val="1C4587"/>
                </a:solidFill>
              </a:rPr>
              <a:t>Modelos críticos según impacto de outliers</a:t>
            </a:r>
            <a:endParaRPr b="1" sz="2244">
              <a:solidFill>
                <a:srgbClr val="1C4587"/>
              </a:solidFill>
            </a:endParaRPr>
          </a:p>
        </p:txBody>
      </p:sp>
      <p:pic>
        <p:nvPicPr>
          <p:cNvPr id="231" name="Google Shape;23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725" y="759400"/>
            <a:ext cx="6798833" cy="40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41">
            <a:hlinkClick r:id="rId4"/>
          </p:cNvPr>
          <p:cNvSpPr txBox="1"/>
          <p:nvPr/>
        </p:nvSpPr>
        <p:spPr>
          <a:xfrm>
            <a:off x="542550" y="4514075"/>
            <a:ext cx="196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chemeClr val="hlink"/>
                </a:solidFill>
                <a:hlinkClick r:id="rId5"/>
              </a:rPr>
              <a:t>Ver gráfico interactivo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44">
                <a:solidFill>
                  <a:srgbClr val="1C4587"/>
                </a:solidFill>
              </a:rPr>
              <a:t>Pareto de modelos con mayor impacto de outliers</a:t>
            </a:r>
            <a:endParaRPr b="1" sz="2244">
              <a:solidFill>
                <a:srgbClr val="1C4587"/>
              </a:solidFill>
            </a:endParaRPr>
          </a:p>
        </p:txBody>
      </p:sp>
      <p:pic>
        <p:nvPicPr>
          <p:cNvPr id="238" name="Google Shape;23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500" y="1017725"/>
            <a:ext cx="7700234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3"/>
          <p:cNvSpPr txBox="1"/>
          <p:nvPr>
            <p:ph type="title"/>
          </p:nvPr>
        </p:nvSpPr>
        <p:spPr>
          <a:xfrm>
            <a:off x="311700" y="315850"/>
            <a:ext cx="8520600" cy="6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44">
                <a:solidFill>
                  <a:srgbClr val="1C4587"/>
                </a:solidFill>
              </a:rPr>
              <a:t>Indicadores fundamentales de desempeño operativo MTBF y MTTR</a:t>
            </a:r>
            <a:endParaRPr b="1" sz="2244">
              <a:solidFill>
                <a:srgbClr val="1C4587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44">
              <a:solidFill>
                <a:srgbClr val="1C4587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44">
              <a:solidFill>
                <a:srgbClr val="1C4587"/>
              </a:solidFill>
            </a:endParaRPr>
          </a:p>
        </p:txBody>
      </p:sp>
      <p:pic>
        <p:nvPicPr>
          <p:cNvPr id="244" name="Google Shape;24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2775" y="920650"/>
            <a:ext cx="6925325" cy="391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4"/>
          <p:cNvSpPr txBox="1"/>
          <p:nvPr>
            <p:ph type="title"/>
          </p:nvPr>
        </p:nvSpPr>
        <p:spPr>
          <a:xfrm>
            <a:off x="311700" y="280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244">
                <a:solidFill>
                  <a:srgbClr val="1C4587"/>
                </a:solidFill>
              </a:rPr>
              <a:t>KPIs de mantenimiento</a:t>
            </a:r>
            <a:endParaRPr b="1">
              <a:solidFill>
                <a:srgbClr val="1C4587"/>
              </a:solidFill>
            </a:endParaRPr>
          </a:p>
        </p:txBody>
      </p:sp>
      <p:pic>
        <p:nvPicPr>
          <p:cNvPr id="250" name="Google Shape;25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825" y="853325"/>
            <a:ext cx="8031543" cy="398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5"/>
          <p:cNvSpPr txBox="1"/>
          <p:nvPr>
            <p:ph type="title"/>
          </p:nvPr>
        </p:nvSpPr>
        <p:spPr>
          <a:xfrm>
            <a:off x="311700" y="186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44">
                <a:solidFill>
                  <a:srgbClr val="1C4587"/>
                </a:solidFill>
              </a:rPr>
              <a:t>Matriz MTBF–MTTR</a:t>
            </a:r>
            <a:endParaRPr b="1" sz="2244">
              <a:solidFill>
                <a:srgbClr val="1C4587"/>
              </a:solidFill>
            </a:endParaRPr>
          </a:p>
        </p:txBody>
      </p:sp>
      <p:pic>
        <p:nvPicPr>
          <p:cNvPr id="256" name="Google Shape;25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6725" y="814975"/>
            <a:ext cx="6928450" cy="4157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5"/>
          <p:cNvSpPr txBox="1"/>
          <p:nvPr/>
        </p:nvSpPr>
        <p:spPr>
          <a:xfrm>
            <a:off x="225475" y="4619750"/>
            <a:ext cx="193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chemeClr val="hlink"/>
                </a:solidFill>
                <a:hlinkClick r:id="rId4"/>
              </a:rPr>
              <a:t>Ver gráfico interactivo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44">
                <a:solidFill>
                  <a:srgbClr val="1C4587"/>
                </a:solidFill>
              </a:rPr>
              <a:t>Análisis de obsolescencia: edad de la máquina vs horas de espera</a:t>
            </a:r>
            <a:endParaRPr/>
          </a:p>
        </p:txBody>
      </p:sp>
      <p:pic>
        <p:nvPicPr>
          <p:cNvPr id="263" name="Google Shape;26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0800" y="930100"/>
            <a:ext cx="5425324" cy="4069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 txBox="1"/>
          <p:nvPr>
            <p:ph type="title"/>
          </p:nvPr>
        </p:nvSpPr>
        <p:spPr>
          <a:xfrm>
            <a:off x="311700" y="304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44">
                <a:solidFill>
                  <a:srgbClr val="1C4587"/>
                </a:solidFill>
              </a:rPr>
              <a:t>Análisis de obsolescencia: edad de la máquina vs coste de piezas</a:t>
            </a:r>
            <a:endParaRPr b="1" sz="2244">
              <a:solidFill>
                <a:srgbClr val="1C4587"/>
              </a:solidFill>
            </a:endParaRPr>
          </a:p>
        </p:txBody>
      </p:sp>
      <p:pic>
        <p:nvPicPr>
          <p:cNvPr id="269" name="Google Shape;26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3050" y="876800"/>
            <a:ext cx="5282534" cy="396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C4587"/>
                </a:solidFill>
              </a:rPr>
              <a:t>Insights clave</a:t>
            </a:r>
            <a:endParaRPr b="1">
              <a:solidFill>
                <a:srgbClr val="1C4587"/>
              </a:solidFill>
            </a:endParaRPr>
          </a:p>
        </p:txBody>
      </p:sp>
      <p:sp>
        <p:nvSpPr>
          <p:cNvPr id="275" name="Google Shape;275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2732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5"/>
              <a:buChar char="●"/>
            </a:pPr>
            <a:r>
              <a:rPr lang="en-GB" sz="1554">
                <a:solidFill>
                  <a:schemeClr val="dk1"/>
                </a:solidFill>
              </a:rPr>
              <a:t>La mayor parte de las fallas se concentra en </a:t>
            </a:r>
            <a:r>
              <a:rPr b="1" lang="en-GB" sz="1554">
                <a:solidFill>
                  <a:schemeClr val="dk1"/>
                </a:solidFill>
              </a:rPr>
              <a:t>pocas categorías críticas</a:t>
            </a:r>
            <a:r>
              <a:rPr lang="en-GB" sz="1554">
                <a:solidFill>
                  <a:schemeClr val="dk1"/>
                </a:solidFill>
              </a:rPr>
              <a:t>, siguiendo un patrón de </a:t>
            </a:r>
            <a:r>
              <a:rPr b="1" lang="en-GB" sz="1554">
                <a:solidFill>
                  <a:schemeClr val="dk1"/>
                </a:solidFill>
              </a:rPr>
              <a:t>Pareto</a:t>
            </a:r>
            <a:r>
              <a:rPr lang="en-GB" sz="1554">
                <a:solidFill>
                  <a:schemeClr val="dk1"/>
                </a:solidFill>
              </a:rPr>
              <a:t>.</a:t>
            </a:r>
            <a:br>
              <a:rPr lang="en-GB" sz="1554">
                <a:solidFill>
                  <a:schemeClr val="dk1"/>
                </a:solidFill>
              </a:rPr>
            </a:br>
            <a:endParaRPr sz="1554">
              <a:solidFill>
                <a:schemeClr val="dk1"/>
              </a:solidFill>
            </a:endParaRPr>
          </a:p>
          <a:p>
            <a:pPr indent="-32732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5"/>
              <a:buChar char="●"/>
            </a:pPr>
            <a:r>
              <a:rPr lang="en-GB" sz="1554">
                <a:solidFill>
                  <a:schemeClr val="dk1"/>
                </a:solidFill>
              </a:rPr>
              <a:t>Los problemas relacionados con el </a:t>
            </a:r>
            <a:r>
              <a:rPr b="1" lang="en-GB" sz="1554">
                <a:solidFill>
                  <a:schemeClr val="dk1"/>
                </a:solidFill>
              </a:rPr>
              <a:t>cabezal de la máquina</a:t>
            </a:r>
            <a:r>
              <a:rPr lang="en-GB" sz="1554">
                <a:solidFill>
                  <a:schemeClr val="dk1"/>
                </a:solidFill>
              </a:rPr>
              <a:t> son los más frecuentes y los que generan mayor tiempo de paro.</a:t>
            </a:r>
            <a:br>
              <a:rPr lang="en-GB" sz="1554">
                <a:solidFill>
                  <a:schemeClr val="dk1"/>
                </a:solidFill>
              </a:rPr>
            </a:br>
            <a:endParaRPr sz="1554">
              <a:solidFill>
                <a:schemeClr val="dk1"/>
              </a:solidFill>
            </a:endParaRPr>
          </a:p>
          <a:p>
            <a:pPr indent="-32732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5"/>
              <a:buChar char="●"/>
            </a:pPr>
            <a:r>
              <a:rPr lang="en-GB" sz="1554">
                <a:solidFill>
                  <a:schemeClr val="dk1"/>
                </a:solidFill>
              </a:rPr>
              <a:t>Los </a:t>
            </a:r>
            <a:r>
              <a:rPr b="1" lang="en-GB" sz="1554">
                <a:solidFill>
                  <a:schemeClr val="dk1"/>
                </a:solidFill>
              </a:rPr>
              <a:t>outliers</a:t>
            </a:r>
            <a:r>
              <a:rPr lang="en-GB" sz="1554">
                <a:solidFill>
                  <a:schemeClr val="dk1"/>
                </a:solidFill>
              </a:rPr>
              <a:t> en tiempo de paro, aunque no son la mayoría de los casos, explican una parte importante del impacto operativo.</a:t>
            </a:r>
            <a:br>
              <a:rPr lang="en-GB" sz="1554">
                <a:solidFill>
                  <a:schemeClr val="dk1"/>
                </a:solidFill>
              </a:rPr>
            </a:br>
            <a:endParaRPr sz="1554">
              <a:solidFill>
                <a:schemeClr val="dk1"/>
              </a:solidFill>
            </a:endParaRPr>
          </a:p>
          <a:p>
            <a:pPr indent="-32732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5"/>
              <a:buChar char="●"/>
            </a:pPr>
            <a:r>
              <a:rPr lang="en-GB" sz="1554">
                <a:solidFill>
                  <a:schemeClr val="dk1"/>
                </a:solidFill>
              </a:rPr>
              <a:t>Los KPIs muestran una mejora del sistema: </a:t>
            </a:r>
            <a:r>
              <a:rPr b="1" lang="en-GB" sz="1554">
                <a:solidFill>
                  <a:schemeClr val="dk1"/>
                </a:solidFill>
              </a:rPr>
              <a:t>el MTBF aumenta</a:t>
            </a:r>
            <a:r>
              <a:rPr lang="en-GB" sz="1554">
                <a:solidFill>
                  <a:schemeClr val="dk1"/>
                </a:solidFill>
              </a:rPr>
              <a:t> y </a:t>
            </a:r>
            <a:r>
              <a:rPr b="1" lang="en-GB" sz="1554">
                <a:solidFill>
                  <a:schemeClr val="dk1"/>
                </a:solidFill>
              </a:rPr>
              <a:t>el MTTR disminuye</a:t>
            </a:r>
            <a:r>
              <a:rPr lang="en-GB" sz="1554">
                <a:solidFill>
                  <a:schemeClr val="dk1"/>
                </a:solidFill>
              </a:rPr>
              <a:t> a lo largo del período analizado.</a:t>
            </a:r>
            <a:br>
              <a:rPr lang="en-GB" sz="1554">
                <a:solidFill>
                  <a:schemeClr val="dk1"/>
                </a:solidFill>
              </a:rPr>
            </a:br>
            <a:endParaRPr sz="1554">
              <a:solidFill>
                <a:schemeClr val="dk1"/>
              </a:solidFill>
            </a:endParaRPr>
          </a:p>
          <a:p>
            <a:pPr indent="-32732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5"/>
              <a:buChar char="●"/>
            </a:pPr>
            <a:r>
              <a:rPr lang="en-GB" sz="1554">
                <a:solidFill>
                  <a:schemeClr val="dk1"/>
                </a:solidFill>
              </a:rPr>
              <a:t>Los modelos de mayor antigüedad tienden a presentar </a:t>
            </a:r>
            <a:r>
              <a:rPr b="1" lang="en-GB" sz="1554">
                <a:solidFill>
                  <a:schemeClr val="dk1"/>
                </a:solidFill>
              </a:rPr>
              <a:t>mayores horas de espera</a:t>
            </a:r>
            <a:r>
              <a:rPr lang="en-GB" sz="1554">
                <a:solidFill>
                  <a:schemeClr val="dk1"/>
                </a:solidFill>
              </a:rPr>
              <a:t> y </a:t>
            </a:r>
            <a:r>
              <a:rPr b="1" lang="en-GB" sz="1554">
                <a:solidFill>
                  <a:schemeClr val="dk1"/>
                </a:solidFill>
              </a:rPr>
              <a:t>mayores costes de piezas</a:t>
            </a:r>
            <a:r>
              <a:rPr lang="en-GB" sz="1554">
                <a:solidFill>
                  <a:schemeClr val="dk1"/>
                </a:solidFill>
              </a:rPr>
              <a:t>, lo que sugiere un posible efecto de </a:t>
            </a:r>
            <a:r>
              <a:rPr b="1" lang="en-GB" sz="1554">
                <a:solidFill>
                  <a:schemeClr val="dk1"/>
                </a:solidFill>
              </a:rPr>
              <a:t>obsolescencia</a:t>
            </a:r>
            <a:r>
              <a:rPr lang="en-GB" sz="1554">
                <a:solidFill>
                  <a:schemeClr val="dk1"/>
                </a:solidFill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C4587"/>
                </a:solidFill>
              </a:rPr>
              <a:t>Recomendaciones</a:t>
            </a:r>
            <a:endParaRPr b="1">
              <a:solidFill>
                <a:srgbClr val="1C4587"/>
              </a:solidFill>
            </a:endParaRPr>
          </a:p>
        </p:txBody>
      </p:sp>
      <p:sp>
        <p:nvSpPr>
          <p:cNvPr id="281" name="Google Shape;281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Priorizar fallas del </a:t>
            </a:r>
            <a:r>
              <a:rPr b="1" lang="en-GB" sz="1600">
                <a:solidFill>
                  <a:schemeClr val="dk1"/>
                </a:solidFill>
              </a:rPr>
              <a:t>cabezal</a:t>
            </a:r>
            <a:br>
              <a:rPr b="1" lang="en-GB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Monitorear y reducir </a:t>
            </a:r>
            <a:r>
              <a:rPr b="1" lang="en-GB" sz="1600">
                <a:solidFill>
                  <a:schemeClr val="dk1"/>
                </a:solidFill>
              </a:rPr>
              <a:t>outliers</a:t>
            </a:r>
            <a:br>
              <a:rPr b="1" lang="en-GB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Intervenir modelos </a:t>
            </a:r>
            <a:r>
              <a:rPr b="1" lang="en-GB" sz="1600">
                <a:solidFill>
                  <a:schemeClr val="dk1"/>
                </a:solidFill>
              </a:rPr>
              <a:t>más críticos</a:t>
            </a:r>
            <a:br>
              <a:rPr b="1" lang="en-GB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Evaluar </a:t>
            </a:r>
            <a:r>
              <a:rPr b="1" lang="en-GB" sz="1600">
                <a:solidFill>
                  <a:schemeClr val="dk1"/>
                </a:solidFill>
              </a:rPr>
              <a:t>renovación</a:t>
            </a:r>
            <a:r>
              <a:rPr lang="en-GB" sz="1600">
                <a:solidFill>
                  <a:schemeClr val="dk1"/>
                </a:solidFill>
              </a:rPr>
              <a:t> de equipos antiguos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Controlar </a:t>
            </a:r>
            <a:r>
              <a:rPr b="1" lang="en-GB" sz="1600">
                <a:solidFill>
                  <a:schemeClr val="dk1"/>
                </a:solidFill>
              </a:rPr>
              <a:t>MTBF y MTTR</a:t>
            </a:r>
            <a:r>
              <a:rPr lang="en-GB" sz="1600">
                <a:solidFill>
                  <a:schemeClr val="dk1"/>
                </a:solidFill>
              </a:rPr>
              <a:t> de forma continua</a:t>
            </a:r>
            <a:endParaRPr sz="23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C4587"/>
                </a:solidFill>
              </a:rPr>
              <a:t>Conclusión</a:t>
            </a:r>
            <a:endParaRPr b="1">
              <a:solidFill>
                <a:srgbClr val="1C4587"/>
              </a:solidFill>
            </a:endParaRPr>
          </a:p>
        </p:txBody>
      </p:sp>
      <p:sp>
        <p:nvSpPr>
          <p:cNvPr id="287" name="Google Shape;287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</a:rPr>
              <a:t>El análisis permitió </a:t>
            </a:r>
            <a:r>
              <a:rPr b="1" lang="en-GB" sz="1900">
                <a:solidFill>
                  <a:schemeClr val="dk1"/>
                </a:solidFill>
              </a:rPr>
              <a:t>identificar fallas críticas, evaluar el desempeño del mantenimiento y apoyar decisiones de mejora basadas en datos</a:t>
            </a:r>
            <a:r>
              <a:rPr lang="en-GB" sz="1900">
                <a:solidFill>
                  <a:schemeClr val="dk1"/>
                </a:solidFill>
              </a:rPr>
              <a:t>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C4587"/>
                </a:solidFill>
              </a:rPr>
              <a:t>Próximos pasos y mejoras</a:t>
            </a:r>
            <a:endParaRPr b="1">
              <a:solidFill>
                <a:srgbClr val="1C4587"/>
              </a:solidFill>
            </a:endParaRPr>
          </a:p>
        </p:txBody>
      </p:sp>
      <p:sp>
        <p:nvSpPr>
          <p:cNvPr id="293" name="Google Shape;293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 Desarrollo de modelos predictivos de fallas (Machine Learning)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 Predicción de fallos a 4 semanas (mantenimiento predictivo)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2"/>
          <p:cNvSpPr txBox="1"/>
          <p:nvPr>
            <p:ph idx="1" type="body"/>
          </p:nvPr>
        </p:nvSpPr>
        <p:spPr>
          <a:xfrm>
            <a:off x="311700" y="204325"/>
            <a:ext cx="8520600" cy="436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3000">
                <a:solidFill>
                  <a:srgbClr val="1C4587"/>
                </a:solidFill>
              </a:rPr>
              <a:t>Gracias !</a:t>
            </a:r>
            <a:endParaRPr b="1" sz="3000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